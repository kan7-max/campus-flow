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5852160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11277295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8775" y="6172200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" y="502920"/>
            <a:ext cx="5715000" cy="5715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896112"/>
            <a:ext cx="1737360" cy="384048"/>
          </a:xfrm>
          <a:prstGeom prst="roundRect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923544"/>
            <a:ext cx="1737360" cy="3383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βテスト参加のお願い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508760"/>
            <a:ext cx="384048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900" b="1">
                <a:solidFill>
                  <a:srgbClr val="0A1E37"/>
                </a:solidFill>
                <a:latin typeface="Yu Gothic"/>
              </a:defRPr>
            </a:pPr>
            <a:r>
              <a:t>Campus</a:t>
            </a:r>
            <a:br/>
            <a:r>
              <a:t>TaskFlow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26080"/>
            <a:ext cx="493776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2662E6"/>
                </a:solidFill>
                <a:latin typeface="Yu Gothic"/>
              </a:defRPr>
            </a:pPr>
            <a:r>
              <a:t>課題文を貼るだけ。</a:t>
            </a:r>
            <a:br/>
            <a:r>
              <a:t>AIが「今日やること」まで整理します。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913632"/>
            <a:ext cx="4937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65748B"/>
                </a:solidFill>
                <a:latin typeface="Yu Gothic"/>
              </a:defRPr>
            </a:pPr>
            <a:r>
              <a:t>友達・同級生向けの小規模βテスト用ガイド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4462272"/>
            <a:ext cx="2468880" cy="475488"/>
          </a:xfrm>
          <a:prstGeom prst="roundRect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599432"/>
            <a:ext cx="2468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Yu Gothic"/>
              </a:defRPr>
            </a:pPr>
            <a:r>
              <a:t>まずは数日だけ試してみてください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42432" y="1508760"/>
            <a:ext cx="841248" cy="347472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2" y="1536192"/>
            <a:ext cx="841248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13B77C"/>
                </a:solidFill>
                <a:latin typeface="Yu Gothic"/>
              </a:defRPr>
            </a:pPr>
            <a:r>
              <a:t>課題文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969264" cy="347472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36192"/>
            <a:ext cx="969264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2662E6"/>
                </a:solidFill>
                <a:latin typeface="Yu Gothic"/>
              </a:defRPr>
            </a:pPr>
            <a:r>
              <a:t>AI抽出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148840"/>
            <a:ext cx="841248" cy="347472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2176272"/>
            <a:ext cx="841248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13B77C"/>
                </a:solidFill>
                <a:latin typeface="Yu Gothic"/>
              </a:defRPr>
            </a:pPr>
            <a:r>
              <a:t>保存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48840"/>
            <a:ext cx="969264" cy="347472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76272"/>
            <a:ext cx="969264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2662E6"/>
                </a:solidFill>
                <a:latin typeface="Yu Gothic"/>
              </a:defRPr>
            </a:pPr>
            <a:r>
              <a:t>Today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2103120"/>
            <a:ext cx="896112" cy="182880"/>
          </a:xfrm>
          <a:prstGeom prst="line">
            <a:avLst/>
          </a:prstGeom>
          <a:ln>
            <a:solidFill>
              <a:srgbClr val="36B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45552" y="896112"/>
            <a:ext cx="214884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C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3412" y="1333195"/>
            <a:ext cx="1633118" cy="3496665"/>
          </a:xfrm>
          <a:prstGeom prst="round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33180" y="1114653"/>
            <a:ext cx="773582" cy="65562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9366" y="1639153"/>
            <a:ext cx="1396746" cy="1223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0A1E37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9366" y="2207361"/>
            <a:ext cx="1461211" cy="6993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8296" y="2294778"/>
            <a:ext cx="966978" cy="262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00" b="1">
                <a:solidFill>
                  <a:srgbClr val="2662E6"/>
                </a:solidFill>
                <a:latin typeface="Yu Gothic"/>
              </a:defRPr>
            </a:pPr>
            <a:r>
              <a:t>次の締切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8296" y="2557028"/>
            <a:ext cx="1181862" cy="3496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00" b="0">
                <a:solidFill>
                  <a:srgbClr val="0A1E37"/>
                </a:solidFill>
                <a:latin typeface="Yu Gothic"/>
              </a:defRPr>
            </a:pPr>
            <a:r>
              <a:t>物理レポート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9366" y="3125236"/>
            <a:ext cx="1461211" cy="10927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8296" y="3212652"/>
            <a:ext cx="1074420" cy="262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00" b="1">
                <a:solidFill>
                  <a:srgbClr val="13B77C"/>
                </a:solidFill>
                <a:latin typeface="Yu Gothic"/>
              </a:defRPr>
            </a:pPr>
            <a:r>
              <a:t>今日やること</a:t>
            </a:r>
          </a:p>
        </p:txBody>
      </p:sp>
      <p:sp>
        <p:nvSpPr>
          <p:cNvPr id="31" name="Oval 30"/>
          <p:cNvSpPr/>
          <p:nvPr/>
        </p:nvSpPr>
        <p:spPr>
          <a:xfrm>
            <a:off x="8339785" y="3518611"/>
            <a:ext cx="96697" cy="96697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1692" y="3501127"/>
            <a:ext cx="966978" cy="174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00" b="0">
                <a:solidFill>
                  <a:srgbClr val="0A1E37"/>
                </a:solidFill>
                <a:latin typeface="Yu Gothic"/>
              </a:defRPr>
            </a:pPr>
            <a:r>
              <a:t>要約を書く</a:t>
            </a:r>
          </a:p>
        </p:txBody>
      </p:sp>
      <p:sp>
        <p:nvSpPr>
          <p:cNvPr id="33" name="Oval 32"/>
          <p:cNvSpPr/>
          <p:nvPr/>
        </p:nvSpPr>
        <p:spPr>
          <a:xfrm>
            <a:off x="8339785" y="3759006"/>
            <a:ext cx="96697" cy="96697"/>
          </a:xfrm>
          <a:prstGeom prst="ellipse">
            <a:avLst/>
          </a:prstGeom>
          <a:solidFill>
            <a:srgbClr val="13B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785" y="3768150"/>
            <a:ext cx="96697" cy="966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1692" y="3741523"/>
            <a:ext cx="966978" cy="174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00" b="0">
                <a:solidFill>
                  <a:srgbClr val="0A1E37"/>
                </a:solidFill>
                <a:latin typeface="Yu Gothic"/>
              </a:defRPr>
            </a:pPr>
            <a:r>
              <a:t>グラフ確認</a:t>
            </a:r>
          </a:p>
        </p:txBody>
      </p:sp>
      <p:sp>
        <p:nvSpPr>
          <p:cNvPr id="36" name="Oval 35"/>
          <p:cNvSpPr/>
          <p:nvPr/>
        </p:nvSpPr>
        <p:spPr>
          <a:xfrm>
            <a:off x="8339785" y="3999402"/>
            <a:ext cx="96697" cy="96697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1692" y="3981919"/>
            <a:ext cx="966978" cy="174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00" b="0">
                <a:solidFill>
                  <a:srgbClr val="0A1E37"/>
                </a:solidFill>
                <a:latin typeface="Yu Gothic"/>
              </a:defRPr>
            </a:pPr>
            <a:r>
              <a:t>提出前チェック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8296" y="4567610"/>
            <a:ext cx="1203350" cy="349666"/>
          </a:xfrm>
          <a:prstGeom prst="roundRect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8296" y="4611319"/>
            <a:ext cx="1203350" cy="2185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Yu Gothic"/>
              </a:defRPr>
            </a:pPr>
            <a:r>
              <a:t>AIで課題を追加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5486400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577840"/>
            <a:ext cx="109728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2662E6"/>
                </a:solidFill>
                <a:latin typeface="Yu Gothic"/>
              </a:defRPr>
            </a:pPr>
            <a:r>
              <a:t>AI抽出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5769864"/>
            <a:ext cx="11430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30" b="0">
                <a:solidFill>
                  <a:srgbClr val="65748B"/>
                </a:solidFill>
                <a:latin typeface="Yu Gothic"/>
              </a:defRPr>
            </a:pPr>
            <a:r>
              <a:t>締切・授業名を候補化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5486400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47888" y="5577840"/>
            <a:ext cx="109728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13B77C"/>
                </a:solidFill>
                <a:latin typeface="Yu Gothic"/>
              </a:defRPr>
            </a:pPr>
            <a:r>
              <a:t>選択保存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5769864"/>
            <a:ext cx="11430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30" b="0">
                <a:solidFill>
                  <a:srgbClr val="65748B"/>
                </a:solidFill>
                <a:latin typeface="Yu Gothic"/>
              </a:defRPr>
            </a:pPr>
            <a:r>
              <a:t>確認してから保存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9800" y="5486400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39528" y="5577840"/>
            <a:ext cx="109728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9528" y="5769864"/>
            <a:ext cx="11430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630" b="0">
                <a:solidFill>
                  <a:srgbClr val="65748B"/>
                </a:solidFill>
                <a:latin typeface="Yu Gothic"/>
              </a:defRPr>
            </a:pPr>
            <a:r>
              <a:t>次にやることを表示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5852160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11277295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8775" y="6172200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000" b="1">
                <a:solidFill>
                  <a:srgbClr val="0A1E37"/>
                </a:solidFill>
                <a:latin typeface="Yu Gothic"/>
              </a:defRPr>
            </a:pPr>
            <a:r>
              <a:t>何ができるアプリ？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78408"/>
            <a:ext cx="10515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65748B"/>
                </a:solidFill>
                <a:latin typeface="Yu Gothic"/>
              </a:defRPr>
            </a:pPr>
            <a:r>
              <a:t>時間割アプリではなく、「課題を整理して終わらせる」ためのアプリです。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1901952"/>
            <a:ext cx="566928" cy="566928"/>
          </a:xfrm>
          <a:prstGeom prst="ellipse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11095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2662E6"/>
                </a:solidFill>
                <a:latin typeface="Yu Gothic"/>
              </a:defRPr>
            </a:pPr>
            <a:r>
              <a:t>貼る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633472"/>
            <a:ext cx="2606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0A1E37"/>
                </a:solidFill>
                <a:latin typeface="Yu Gothic"/>
              </a:defRPr>
            </a:pPr>
            <a:r>
              <a:t>課題文を貼る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136392"/>
            <a:ext cx="26060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65748B"/>
                </a:solidFill>
                <a:latin typeface="Yu Gothic"/>
              </a:defRPr>
            </a:pPr>
            <a:r>
              <a:t>WebClassや授業連絡文を</a:t>
            </a:r>
            <a:br/>
            <a:r>
              <a:t>そのまま貼り付け。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3822191"/>
            <a:ext cx="2057400" cy="292608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84962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2662E6"/>
                </a:solidFill>
                <a:latin typeface="Yu Gothic"/>
              </a:defRPr>
            </a:pPr>
            <a:r>
              <a:t>入力の手間を減らす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6002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36592" y="1901952"/>
            <a:ext cx="566928" cy="566928"/>
          </a:xfrm>
          <a:prstGeom prst="ellipse">
            <a:avLst/>
          </a:prstGeom>
          <a:solidFill>
            <a:srgbClr val="E6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911095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36B8EB"/>
                </a:solidFill>
                <a:latin typeface="Yu Gothic"/>
              </a:defRPr>
            </a:pPr>
            <a: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633472"/>
            <a:ext cx="2606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0A1E37"/>
                </a:solidFill>
                <a:latin typeface="Yu Gothic"/>
              </a:defRPr>
            </a:pPr>
            <a:r>
              <a:t>AIが候補を整理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136392"/>
            <a:ext cx="26060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65748B"/>
                </a:solidFill>
                <a:latin typeface="Yu Gothic"/>
              </a:defRPr>
            </a:pPr>
            <a:r>
              <a:t>課題名・授業名・締切を</a:t>
            </a:r>
            <a:br/>
            <a:r>
              <a:t>候補として表示。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36592" y="3822191"/>
            <a:ext cx="2057400" cy="292608"/>
          </a:xfrm>
          <a:prstGeom prst="roundRect">
            <a:avLst/>
          </a:prstGeom>
          <a:solidFill>
            <a:srgbClr val="E6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84962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36B8EB"/>
                </a:solidFill>
                <a:latin typeface="Yu Gothic"/>
              </a:defRPr>
            </a:pPr>
            <a:r>
              <a:t>保存前に確認できる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6002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1" y="1901952"/>
            <a:ext cx="566928" cy="566928"/>
          </a:xfrm>
          <a:prstGeom prst="ellipse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1" y="1911095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13B77C"/>
                </a:solidFill>
                <a:latin typeface="Yu Gothic"/>
              </a:defRPr>
            </a:pPr>
            <a:r>
              <a:t>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633472"/>
            <a:ext cx="2606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0A1E37"/>
                </a:solidFill>
                <a:latin typeface="Yu Gothic"/>
              </a:defRPr>
            </a:pPr>
            <a:r>
              <a:t>今日やることに変換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3136392"/>
            <a:ext cx="26060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50" b="0">
                <a:solidFill>
                  <a:srgbClr val="65748B"/>
                </a:solidFill>
                <a:latin typeface="Yu Gothic"/>
              </a:defRPr>
            </a:pPr>
            <a:r>
              <a:t>近い締切や次にやることを</a:t>
            </a:r>
            <a:br/>
            <a:r>
              <a:t>確認しやすく。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9911" y="3822191"/>
            <a:ext cx="2057400" cy="292608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1" y="3849624"/>
            <a:ext cx="20574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19" b="1">
                <a:solidFill>
                  <a:srgbClr val="13B77C"/>
                </a:solidFill>
                <a:latin typeface="Yu Gothic"/>
              </a:defRPr>
            </a:pPr>
            <a:r>
              <a:t>締切を忘れにくい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4617720"/>
            <a:ext cx="10241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34440" y="4864608"/>
            <a:ext cx="347472" cy="347472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87375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Yu Gothic"/>
              </a:defRPr>
            </a:pPr>
            <a: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4791456"/>
            <a:ext cx="2834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Yu Gothic"/>
              </a:defRPr>
            </a:pPr>
            <a:r>
              <a:t>βテストで見てほしいところ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3352" y="5074920"/>
            <a:ext cx="8503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20" b="0">
                <a:solidFill>
                  <a:srgbClr val="0A1E37"/>
                </a:solidFill>
                <a:latin typeface="Yu Gothic"/>
              </a:defRPr>
            </a:pPr>
            <a:r>
              <a:t>AI抽出の分かりやすさ・スマホでの操作・Today画面の見やすさを中心に見てください。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788152"/>
            <a:ext cx="868680" cy="27432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815584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50" b="1">
                <a:solidFill>
                  <a:srgbClr val="65748B"/>
                </a:solidFill>
                <a:latin typeface="Yu Gothic"/>
              </a:defRPr>
            </a:pPr>
            <a:r>
              <a:t>WebClass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03120" y="5788152"/>
            <a:ext cx="868680" cy="27432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5815584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50" b="1">
                <a:solidFill>
                  <a:srgbClr val="65748B"/>
                </a:solidFill>
                <a:latin typeface="Yu Gothic"/>
              </a:defRPr>
            </a:pPr>
            <a:r>
              <a:t>授業連絡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788152"/>
            <a:ext cx="868680" cy="27432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5815584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50" b="1">
                <a:solidFill>
                  <a:srgbClr val="65748B"/>
                </a:solidFill>
                <a:latin typeface="Yu Gothic"/>
              </a:defRPr>
            </a:pPr>
            <a:r>
              <a:t>提出案内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79" y="5788152"/>
            <a:ext cx="868680" cy="27432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79" y="5815584"/>
            <a:ext cx="8686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750" b="1">
                <a:solidFill>
                  <a:srgbClr val="65748B"/>
                </a:solidFill>
                <a:latin typeface="Yu Gothic"/>
              </a:defRPr>
            </a:pPr>
            <a:r>
              <a:t>課題説明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5852160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11277295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8775" y="6172200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000" b="1">
                <a:solidFill>
                  <a:srgbClr val="0A1E37"/>
                </a:solidFill>
                <a:latin typeface="Yu Gothic"/>
              </a:defRPr>
            </a:pPr>
            <a:r>
              <a:t>テストはこの4ステップだけ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78408"/>
            <a:ext cx="10515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65748B"/>
                </a:solidFill>
                <a:latin typeface="Yu Gothic"/>
              </a:defRPr>
            </a:pPr>
            <a:r>
              <a:t>迷わないよう、最初に試してほしい流れを絞っています。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74519"/>
            <a:ext cx="512064" cy="512064"/>
          </a:xfrm>
          <a:prstGeom prst="ellipse">
            <a:avLst/>
          </a:prstGeom>
          <a:solidFill>
            <a:srgbClr val="266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83663"/>
            <a:ext cx="51206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ログイン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992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Googleでログイン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2587752"/>
            <a:ext cx="365760" cy="0"/>
          </a:xfrm>
          <a:prstGeom prst="line">
            <a:avLst/>
          </a:prstGeom>
          <a:ln>
            <a:solidFill>
              <a:srgbClr val="93C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6002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9039" y="1874519"/>
            <a:ext cx="512064" cy="512064"/>
          </a:xfrm>
          <a:prstGeom prst="ellipse">
            <a:avLst/>
          </a:prstGeom>
          <a:solidFill>
            <a:srgbClr val="36B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883663"/>
            <a:ext cx="51206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6060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貼り付け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992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/ai に課題文を貼る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2587752"/>
            <a:ext cx="365760" cy="0"/>
          </a:xfrm>
          <a:prstGeom prst="line">
            <a:avLst/>
          </a:prstGeom>
          <a:ln>
            <a:solidFill>
              <a:srgbClr val="93C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91072" y="16002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1874519"/>
            <a:ext cx="512064" cy="512064"/>
          </a:xfrm>
          <a:prstGeom prst="ellipse">
            <a:avLst/>
          </a:prstGeom>
          <a:solidFill>
            <a:srgbClr val="13B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83663"/>
            <a:ext cx="51206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060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確認・保存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992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締切と内容を見て保存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2587752"/>
            <a:ext cx="365760" cy="0"/>
          </a:xfrm>
          <a:prstGeom prst="line">
            <a:avLst/>
          </a:prstGeom>
          <a:ln>
            <a:solidFill>
              <a:srgbClr val="93C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79991" y="1600200"/>
            <a:ext cx="2331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79" y="1874519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79" y="1883663"/>
            <a:ext cx="51206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79" y="26060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0A1E37"/>
                </a:solidFill>
                <a:latin typeface="Yu Gothic"/>
              </a:defRPr>
            </a:pPr>
            <a:r>
              <a:t>Today確認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29992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65748B"/>
                </a:solidFill>
                <a:latin typeface="Yu Gothic"/>
              </a:defRPr>
            </a:pPr>
            <a:r>
              <a:t>今日やることをチェック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160520"/>
            <a:ext cx="102412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584" y="4480560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2662E6"/>
                </a:solidFill>
                <a:latin typeface="Yu Gothic"/>
              </a:defRPr>
            </a:pPr>
            <a:r>
              <a:t>チェックする画面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370832"/>
            <a:ext cx="960120" cy="329184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398264"/>
            <a:ext cx="9601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2662E6"/>
                </a:solidFill>
                <a:latin typeface="Yu Gothic"/>
              </a:defRPr>
            </a:pPr>
            <a:r>
              <a:t>/ai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0208" y="4370832"/>
            <a:ext cx="960120" cy="329184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0208" y="4398264"/>
            <a:ext cx="9601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13B77C"/>
                </a:solidFill>
                <a:latin typeface="Yu Gothic"/>
              </a:defRPr>
            </a:pPr>
            <a:r>
              <a:t>/inbox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57216" y="4370832"/>
            <a:ext cx="960120" cy="329184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7216" y="4398264"/>
            <a:ext cx="9601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2662E6"/>
                </a:solidFill>
                <a:latin typeface="Yu Gothic"/>
              </a:defRPr>
            </a:pPr>
            <a:r>
              <a:t>/today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4370832"/>
            <a:ext cx="960120" cy="329184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4398264"/>
            <a:ext cx="9601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13B77C"/>
                </a:solidFill>
                <a:latin typeface="Yu Gothic"/>
              </a:defRPr>
            </a:pPr>
            <a:r>
              <a:t>/dashboard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71232" y="4370832"/>
            <a:ext cx="960120" cy="329184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1232" y="4398264"/>
            <a:ext cx="9601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2662E6"/>
                </a:solidFill>
                <a:latin typeface="Yu Gothic"/>
              </a:defRPr>
            </a:pPr>
            <a:r>
              <a:t>課題詳細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828032"/>
            <a:ext cx="6766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65748B"/>
                </a:solidFill>
                <a:latin typeface="Yu Gothic"/>
              </a:defRPr>
            </a:pPr>
            <a:r>
              <a:t>白画面・画面崩れ・押せないボタンがあれば、スクショ付きで教えてください。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" y="5532120"/>
            <a:ext cx="10241280" cy="457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5669280"/>
            <a:ext cx="969264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19" b="1">
                <a:solidFill>
                  <a:srgbClr val="2662E6"/>
                </a:solidFill>
                <a:latin typeface="Yu Gothic"/>
              </a:defRPr>
            </a:pPr>
            <a:r>
              <a:t>ポイント：全部を完璧に試すより、「普通に使えるか」を見てほしいです。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5852160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11277295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8775" y="6172200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A1E37"/>
                </a:solidFill>
                <a:latin typeface="Yu Gothic"/>
              </a:defRPr>
            </a:pPr>
            <a:r>
              <a:t>使う前に知っておいてほしいこと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78408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65748B"/>
                </a:solidFill>
                <a:latin typeface="Yu Gothic"/>
              </a:defRPr>
            </a:pPr>
            <a:r>
              <a:t>安心して試してもらうための大事な注意だけまとめました。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36192"/>
            <a:ext cx="3154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56231"/>
            <a:ext cx="566928" cy="566928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65375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42032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0A1E37"/>
                </a:solidFill>
                <a:latin typeface="Yu Gothic"/>
              </a:defRPr>
            </a:pPr>
            <a:r>
              <a:rPr sz="1800" b="1">
                <a:solidFill>
                  <a:srgbClr val="0F172A"/>
                </a:solidFill>
              </a:rPr>
              <a:t>AI結果は</a:t>
            </a:r>
            <a:br/>
            <a:r>
              <a:rPr sz="1800" b="1">
                <a:solidFill>
                  <a:srgbClr val="0F172A"/>
                </a:solidFill>
              </a:rPr>
              <a:t>確認して保存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26974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40" b="0">
                <a:solidFill>
                  <a:srgbClr val="65748B"/>
                </a:solidFill>
                <a:latin typeface="Yu Gothic"/>
              </a:defRPr>
            </a:pPr>
            <a:r>
              <a:rPr sz="1120">
                <a:solidFill>
                  <a:srgbClr val="64748B"/>
                </a:solidFill>
              </a:rPr>
              <a:t>締切・授業名・課題内容がズレることがあります。保存前に自分で確認してください。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270248"/>
            <a:ext cx="1572768" cy="310896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80"/>
            <a:ext cx="15727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19" b="1">
                <a:solidFill>
                  <a:srgbClr val="F59E0B"/>
                </a:solidFill>
                <a:latin typeface="Yu Gothic"/>
              </a:defRPr>
            </a:pPr>
            <a:r>
              <a:t>確認して保存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536192"/>
            <a:ext cx="3154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79" y="1856231"/>
            <a:ext cx="566928" cy="566928"/>
          </a:xfrm>
          <a:prstGeom prst="ellipse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865375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2662E6"/>
                </a:solidFill>
                <a:latin typeface="Yu Gothic"/>
              </a:defRPr>
            </a:pPr>
            <a:r>
              <a:t>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54203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0A1E37"/>
                </a:solidFill>
                <a:latin typeface="Yu Gothic"/>
              </a:defRPr>
            </a:pPr>
            <a:r>
              <a:rPr sz="1800" b="1">
                <a:solidFill>
                  <a:srgbClr val="0F172A"/>
                </a:solidFill>
              </a:rPr>
              <a:t>カレンダー連携は任意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154680"/>
            <a:ext cx="26974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40" b="0">
                <a:solidFill>
                  <a:srgbClr val="65748B"/>
                </a:solidFill>
                <a:latin typeface="Yu Gothic"/>
              </a:defRPr>
            </a:pPr>
            <a:r>
              <a:rPr sz="1120">
                <a:solidFill>
                  <a:srgbClr val="64748B"/>
                </a:solidFill>
              </a:rPr>
              <a:t>連携しなくても基本機能は試せます。同期に失敗しても課題保存は成功します。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4270248"/>
            <a:ext cx="1572768" cy="310896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4297680"/>
            <a:ext cx="15727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19" b="1">
                <a:solidFill>
                  <a:srgbClr val="2662E6"/>
                </a:solidFill>
                <a:latin typeface="Yu Gothic"/>
              </a:defRPr>
            </a:pPr>
            <a:r>
              <a:t>連携なしでもOK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536192"/>
            <a:ext cx="3154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58200" y="1856231"/>
            <a:ext cx="566928" cy="566928"/>
          </a:xfrm>
          <a:prstGeom prst="ellipse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865375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EC4899"/>
                </a:solidFill>
                <a:latin typeface="Yu Gothic"/>
              </a:defRPr>
            </a:pPr>
            <a:r>
              <a:t>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42032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0A1E37"/>
                </a:solidFill>
                <a:latin typeface="Yu Gothic"/>
              </a:defRPr>
            </a:pPr>
            <a:r>
              <a:rPr sz="1800" b="1">
                <a:solidFill>
                  <a:srgbClr val="0F172A"/>
                </a:solidFill>
              </a:rPr>
              <a:t>β版なので</a:t>
            </a:r>
            <a:br/>
            <a:r>
              <a:rPr sz="1800" b="1">
                <a:solidFill>
                  <a:srgbClr val="0F172A"/>
                </a:solidFill>
              </a:rPr>
              <a:t>不具合があるかも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154680"/>
            <a:ext cx="26974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40" b="0">
                <a:solidFill>
                  <a:srgbClr val="65748B"/>
                </a:solidFill>
                <a:latin typeface="Yu Gothic"/>
              </a:defRPr>
            </a:pPr>
            <a:r>
              <a:rPr sz="1120">
                <a:solidFill>
                  <a:srgbClr val="64748B"/>
                </a:solidFill>
              </a:rPr>
              <a:t>表示崩れや動作の不安定さが出る可能性があります。気づいたら気軽に報告してください。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4270248"/>
            <a:ext cx="1572768" cy="310896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297680"/>
            <a:ext cx="15727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19" b="1">
                <a:solidFill>
                  <a:srgbClr val="EC4899"/>
                </a:solidFill>
                <a:latin typeface="Yu Gothic"/>
              </a:defRPr>
            </a:pPr>
            <a:r>
              <a:t>気軽に報告OK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30368"/>
            <a:ext cx="10634472" cy="676656"/>
          </a:xfrm>
          <a:prstGeom prst="roundRect">
            <a:avLst/>
          </a:prstGeom>
          <a:solidFill>
            <a:srgbClr val="0A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40410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36B8EB"/>
                </a:solidFill>
                <a:latin typeface="Yu Gothic"/>
              </a:defRPr>
            </a:pPr>
            <a:r>
              <a:t>データについて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404104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Yu Gothic"/>
              </a:defRPr>
            </a:pPr>
            <a:r>
              <a:t>あなたの課題情報は他のユーザーには見えません。削除希望があれば連絡してください。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02920" y="5852160"/>
            <a:ext cx="1463040" cy="1463040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11277295" y="-228600"/>
            <a:ext cx="1280160" cy="914400"/>
          </a:xfrm>
          <a:prstGeom prst="rect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88775" y="6172200"/>
            <a:ext cx="685800" cy="685800"/>
          </a:xfrm>
          <a:prstGeom prst="ellipse">
            <a:avLst/>
          </a:prstGeom>
          <a:solidFill>
            <a:srgbClr val="EC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070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000" b="1">
                <a:solidFill>
                  <a:srgbClr val="0A1E37"/>
                </a:solidFill>
                <a:latin typeface="Yu Gothic"/>
              </a:defRPr>
            </a:pPr>
            <a:r>
              <a:t>最後に、これだけ教えてほしい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978408"/>
            <a:ext cx="10515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0">
                <a:solidFill>
                  <a:srgbClr val="65748B"/>
                </a:solidFill>
                <a:latin typeface="Yu Gothic"/>
              </a:defRPr>
            </a:pPr>
            <a:r>
              <a:t>細かいバグだけでなく「使ってみた感覚」もかなり大事です。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417320"/>
            <a:ext cx="51480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55648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0A1E37"/>
                </a:solidFill>
                <a:latin typeface="Yu Gothic"/>
              </a:defRPr>
            </a:pPr>
            <a:r>
              <a:t>フィードバックの例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331720"/>
            <a:ext cx="1033271" cy="310896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59151"/>
            <a:ext cx="1033271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2662E6"/>
                </a:solidFill>
                <a:latin typeface="Yu Gothic"/>
              </a:defRPr>
            </a:pPr>
            <a:r>
              <a:t>AI抽出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77439"/>
            <a:ext cx="3383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0A1E37"/>
                </a:solidFill>
                <a:latin typeface="Yu Gothic"/>
              </a:defRPr>
            </a:pPr>
            <a:r>
              <a:t>課題名や締切は合っていた？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2990087"/>
            <a:ext cx="1033271" cy="310896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17519"/>
            <a:ext cx="1033271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13B77C"/>
                </a:solidFill>
                <a:latin typeface="Yu Gothic"/>
              </a:defRPr>
            </a:pPr>
            <a:r>
              <a:t>スマホ操作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035807"/>
            <a:ext cx="3383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0A1E37"/>
                </a:solidFill>
                <a:latin typeface="Yu Gothic"/>
              </a:defRPr>
            </a:pPr>
            <a:r>
              <a:t>ボタンは押しやすかった？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648456"/>
            <a:ext cx="1033271" cy="310896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675887"/>
            <a:ext cx="1033271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2662E6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694176"/>
            <a:ext cx="3383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0A1E37"/>
                </a:solidFill>
                <a:latin typeface="Yu Gothic"/>
              </a:defRPr>
            </a:pPr>
            <a:r>
              <a:t>今日やることは見やすかった？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4306824"/>
            <a:ext cx="1033271" cy="310896"/>
          </a:xfrm>
          <a:prstGeom prst="roundRect">
            <a:avLst/>
          </a:prstGeom>
          <a:solidFill>
            <a:srgbClr val="EB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334256"/>
            <a:ext cx="1033271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850" b="1">
                <a:solidFill>
                  <a:srgbClr val="13B77C"/>
                </a:solidFill>
                <a:latin typeface="Yu Gothic"/>
              </a:defRPr>
            </a:pPr>
            <a:r>
              <a:t>不安点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52544"/>
            <a:ext cx="3383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0A1E37"/>
                </a:solidFill>
                <a:latin typeface="Yu Gothic"/>
              </a:defRPr>
            </a:pPr>
            <a:r>
              <a:t>説明不足や怖いと感じた部分は？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1417320"/>
            <a:ext cx="5166360" cy="4160520"/>
          </a:xfrm>
          <a:prstGeom prst="roundRect">
            <a:avLst/>
          </a:prstGeom>
          <a:solidFill>
            <a:srgbClr val="0A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178308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送ってほしい内容</a:t>
            </a:r>
          </a:p>
        </p:txBody>
      </p:sp>
      <p:sp>
        <p:nvSpPr>
          <p:cNvPr id="23" name="Oval 22"/>
          <p:cNvSpPr/>
          <p:nvPr/>
        </p:nvSpPr>
        <p:spPr>
          <a:xfrm>
            <a:off x="6693408" y="2487168"/>
            <a:ext cx="329184" cy="329184"/>
          </a:xfrm>
          <a:prstGeom prst="ellipse">
            <a:avLst/>
          </a:prstGeom>
          <a:solidFill>
            <a:srgbClr val="36B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496312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551176"/>
            <a:ext cx="3383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0">
                <a:solidFill>
                  <a:srgbClr val="FFFFFF"/>
                </a:solidFill>
                <a:latin typeface="Yu Gothic"/>
              </a:defRPr>
            </a:pPr>
            <a:r>
              <a:t>使った端末・ブラウザ</a:t>
            </a:r>
          </a:p>
        </p:txBody>
      </p:sp>
      <p:sp>
        <p:nvSpPr>
          <p:cNvPr id="26" name="Oval 25"/>
          <p:cNvSpPr/>
          <p:nvPr/>
        </p:nvSpPr>
        <p:spPr>
          <a:xfrm>
            <a:off x="6693408" y="3054096"/>
            <a:ext cx="329184" cy="329184"/>
          </a:xfrm>
          <a:prstGeom prst="ellipse">
            <a:avLst/>
          </a:prstGeom>
          <a:solidFill>
            <a:srgbClr val="13B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063240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118104"/>
            <a:ext cx="3383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0">
                <a:solidFill>
                  <a:srgbClr val="FFFFFF"/>
                </a:solidFill>
                <a:latin typeface="Yu Gothic"/>
              </a:defRPr>
            </a:pPr>
            <a:r>
              <a:t>どの画面で起きたか</a:t>
            </a:r>
          </a:p>
        </p:txBody>
      </p:sp>
      <p:sp>
        <p:nvSpPr>
          <p:cNvPr id="29" name="Oval 28"/>
          <p:cNvSpPr/>
          <p:nvPr/>
        </p:nvSpPr>
        <p:spPr>
          <a:xfrm>
            <a:off x="6693408" y="3621024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3630168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685032"/>
            <a:ext cx="3383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0">
                <a:solidFill>
                  <a:srgbClr val="FFFFFF"/>
                </a:solidFill>
                <a:latin typeface="Yu Gothic"/>
              </a:defRPr>
            </a:pPr>
            <a:r>
              <a:t>何をしようとしたか</a:t>
            </a:r>
          </a:p>
        </p:txBody>
      </p:sp>
      <p:sp>
        <p:nvSpPr>
          <p:cNvPr id="32" name="Oval 31"/>
          <p:cNvSpPr/>
          <p:nvPr/>
        </p:nvSpPr>
        <p:spPr>
          <a:xfrm>
            <a:off x="6693408" y="4187952"/>
            <a:ext cx="329184" cy="329184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4197096"/>
            <a:ext cx="3291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251960"/>
            <a:ext cx="3383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0">
                <a:solidFill>
                  <a:srgbClr val="FFFFFF"/>
                </a:solidFill>
                <a:latin typeface="Yu Gothic"/>
              </a:defRPr>
            </a:pPr>
            <a:r>
              <a:t>エラー文やスクショ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846320"/>
            <a:ext cx="3931920" cy="420624"/>
          </a:xfrm>
          <a:prstGeom prst="roundRect">
            <a:avLst/>
          </a:prstGeom>
          <a:solidFill>
            <a:srgbClr val="36B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974336"/>
            <a:ext cx="39319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 b="1">
                <a:solidFill>
                  <a:srgbClr val="0A1E37"/>
                </a:solidFill>
                <a:latin typeface="Yu Gothic"/>
              </a:defRPr>
            </a:pPr>
            <a:r>
              <a:t>数日使って、率直な感想をください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053328"/>
            <a:ext cx="2743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50" b="0">
                <a:solidFill>
                  <a:srgbClr val="65748B"/>
                </a:solidFill>
                <a:latin typeface="Yu Gothic"/>
              </a:defRPr>
            </a:pPr>
            <a:r>
              <a:t>Campus TaskFlow βテスト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053328"/>
            <a:ext cx="1828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50" b="0">
                <a:solidFill>
                  <a:srgbClr val="65748B"/>
                </a:solidFill>
                <a:latin typeface="Yu Gothic"/>
              </a:defRPr>
            </a:pPr>
            <a:r>
              <a:t>協力ありがとう！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