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6858000" cy="1219169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502920" y="11185855"/>
            <a:ext cx="1463040" cy="1463040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500000">
            <a:off x="5943600" y="-228600"/>
            <a:ext cx="1280160" cy="914400"/>
          </a:xfrm>
          <a:prstGeom prst="rect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55080" y="11505895"/>
            <a:ext cx="685800" cy="685800"/>
          </a:xfrm>
          <a:prstGeom prst="ellipse">
            <a:avLst/>
          </a:prstGeom>
          <a:solidFill>
            <a:srgbClr val="EC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566928"/>
            <a:ext cx="6035040" cy="10927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960120"/>
            <a:ext cx="1920240" cy="384048"/>
          </a:xfrm>
          <a:prstGeom prst="roundRect">
            <a:avLst/>
          </a:prstGeom>
          <a:solidFill>
            <a:srgbClr val="266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87552"/>
            <a:ext cx="1920240" cy="3383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Yu Gothic"/>
              </a:defRPr>
            </a:pPr>
            <a:r>
              <a:t>βテスト参加のお願い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4297680" cy="1234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3700" b="1">
                <a:solidFill>
                  <a:srgbClr val="0A1E37"/>
                </a:solidFill>
                <a:latin typeface="Yu Gothic"/>
              </a:defRPr>
            </a:pPr>
            <a:r>
              <a:t>Campus</a:t>
            </a:r>
            <a:br/>
            <a:r>
              <a:t>TaskFlow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83280"/>
            <a:ext cx="5349240" cy="7863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700" b="1">
                <a:solidFill>
                  <a:srgbClr val="2662E6"/>
                </a:solidFill>
                <a:latin typeface="Yu Gothic"/>
              </a:defRPr>
            </a:pPr>
            <a:r>
              <a:t>課題文を貼るだけ。</a:t>
            </a:r>
            <a:br/>
            <a:r>
              <a:t>AIが「今日やること」まで整理します。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55648" y="466344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C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161641" y="5148072"/>
            <a:ext cx="2571292" cy="3877056"/>
          </a:xfrm>
          <a:prstGeom prst="round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38297" y="4905755"/>
            <a:ext cx="1217980" cy="72694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96972" y="5487314"/>
            <a:ext cx="2199132" cy="13569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1">
                <a:solidFill>
                  <a:srgbClr val="0A1E37"/>
                </a:solidFill>
                <a:latin typeface="Yu Gothic"/>
              </a:defRPr>
            </a:pPr>
            <a:r>
              <a:t>Today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96972" y="6117336"/>
            <a:ext cx="2300630" cy="77541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99969" y="6214262"/>
            <a:ext cx="1522476" cy="2907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00" b="1">
                <a:solidFill>
                  <a:srgbClr val="2662E6"/>
                </a:solidFill>
                <a:latin typeface="Yu Gothic"/>
              </a:defRPr>
            </a:pPr>
            <a:r>
              <a:t>次の締切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99969" y="6505041"/>
            <a:ext cx="1860804" cy="3877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00" b="0">
                <a:solidFill>
                  <a:srgbClr val="0A1E37"/>
                </a:solidFill>
                <a:latin typeface="Yu Gothic"/>
              </a:defRPr>
            </a:pPr>
            <a:r>
              <a:t>物理レポート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96972" y="7135063"/>
            <a:ext cx="2300630" cy="12115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99969" y="7231989"/>
            <a:ext cx="1691640" cy="2907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00" b="1">
                <a:solidFill>
                  <a:srgbClr val="13B77C"/>
                </a:solidFill>
                <a:latin typeface="Yu Gothic"/>
              </a:defRPr>
            </a:pPr>
            <a:r>
              <a:t>今日やること</a:t>
            </a:r>
          </a:p>
        </p:txBody>
      </p:sp>
      <p:sp>
        <p:nvSpPr>
          <p:cNvPr id="19" name="Oval 18"/>
          <p:cNvSpPr/>
          <p:nvPr/>
        </p:nvSpPr>
        <p:spPr>
          <a:xfrm>
            <a:off x="2533802" y="7571231"/>
            <a:ext cx="152247" cy="152247"/>
          </a:xfrm>
          <a:prstGeom prst="ellipse">
            <a:avLst/>
          </a:prstGeom>
          <a:solidFill>
            <a:srgbClr val="BBF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04464" y="7551846"/>
            <a:ext cx="1522476" cy="1938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600" b="0">
                <a:solidFill>
                  <a:srgbClr val="0A1E37"/>
                </a:solidFill>
                <a:latin typeface="Yu Gothic"/>
              </a:defRPr>
            </a:pPr>
            <a:r>
              <a:t>要約を書く</a:t>
            </a:r>
          </a:p>
        </p:txBody>
      </p:sp>
      <p:sp>
        <p:nvSpPr>
          <p:cNvPr id="21" name="Oval 20"/>
          <p:cNvSpPr/>
          <p:nvPr/>
        </p:nvSpPr>
        <p:spPr>
          <a:xfrm>
            <a:off x="2533802" y="7837779"/>
            <a:ext cx="152247" cy="152247"/>
          </a:xfrm>
          <a:prstGeom prst="ellipse">
            <a:avLst/>
          </a:prstGeom>
          <a:solidFill>
            <a:srgbClr val="13B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33802" y="7846923"/>
            <a:ext cx="152247" cy="15224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500" b="1">
                <a:solidFill>
                  <a:srgbClr val="FFFFFF"/>
                </a:solidFill>
                <a:latin typeface="Yu Gothic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4464" y="7818394"/>
            <a:ext cx="1522476" cy="1938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600" b="0">
                <a:solidFill>
                  <a:srgbClr val="0A1E37"/>
                </a:solidFill>
                <a:latin typeface="Yu Gothic"/>
              </a:defRPr>
            </a:pPr>
            <a:r>
              <a:t>グラフ確認</a:t>
            </a:r>
          </a:p>
        </p:txBody>
      </p:sp>
      <p:sp>
        <p:nvSpPr>
          <p:cNvPr id="24" name="Oval 23"/>
          <p:cNvSpPr/>
          <p:nvPr/>
        </p:nvSpPr>
        <p:spPr>
          <a:xfrm>
            <a:off x="2533802" y="8104327"/>
            <a:ext cx="152247" cy="152247"/>
          </a:xfrm>
          <a:prstGeom prst="ellipse">
            <a:avLst/>
          </a:prstGeom>
          <a:solidFill>
            <a:srgbClr val="BBF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04464" y="8084941"/>
            <a:ext cx="1522476" cy="1938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600" b="0">
                <a:solidFill>
                  <a:srgbClr val="0A1E37"/>
                </a:solidFill>
                <a:latin typeface="Yu Gothic"/>
              </a:defRPr>
            </a:pPr>
            <a:r>
              <a:t>提出前チェック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99969" y="8734348"/>
            <a:ext cx="1894636" cy="387705"/>
          </a:xfrm>
          <a:prstGeom prst="roundRect">
            <a:avLst/>
          </a:prstGeom>
          <a:solidFill>
            <a:srgbClr val="266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99969" y="8782812"/>
            <a:ext cx="1894636" cy="242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Yu Gothic"/>
              </a:defRPr>
            </a:pPr>
            <a:r>
              <a:t>AIで課題を追加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51560" y="10241280"/>
            <a:ext cx="4754880" cy="566928"/>
          </a:xfrm>
          <a:prstGeom prst="roundRect">
            <a:avLst/>
          </a:prstGeom>
          <a:solidFill>
            <a:srgbClr val="266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10415016"/>
            <a:ext cx="475488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Yu Gothic"/>
              </a:defRPr>
            </a:pPr>
            <a:r>
              <a:t>まずは数日だけ試してみてください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10991088"/>
            <a:ext cx="52120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50" b="0">
                <a:solidFill>
                  <a:srgbClr val="65748B"/>
                </a:solidFill>
                <a:latin typeface="Yu Gothic"/>
              </a:defRPr>
            </a:pPr>
            <a:r>
              <a:t>友達・同級生向けの小規模βテスト用ガイド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502920" y="11185855"/>
            <a:ext cx="1463040" cy="1463040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500000">
            <a:off x="5943600" y="-228600"/>
            <a:ext cx="1280160" cy="914400"/>
          </a:xfrm>
          <a:prstGeom prst="rect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55080" y="11505895"/>
            <a:ext cx="685800" cy="685800"/>
          </a:xfrm>
          <a:prstGeom prst="ellipse">
            <a:avLst/>
          </a:prstGeom>
          <a:solidFill>
            <a:srgbClr val="EC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58521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800" b="1">
                <a:solidFill>
                  <a:srgbClr val="0A1E37"/>
                </a:solidFill>
                <a:latin typeface="Yu Gothic"/>
              </a:defRPr>
            </a:pPr>
            <a:r>
              <a:t>何ができるアプリ？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61288"/>
            <a:ext cx="57607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50" b="0">
                <a:solidFill>
                  <a:srgbClr val="65748B"/>
                </a:solidFill>
                <a:latin typeface="Yu Gothic"/>
              </a:defRPr>
            </a:pPr>
            <a:r>
              <a:t>「課題を整理して終わらせる」ためのアプリです。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83080"/>
            <a:ext cx="571500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2130552"/>
            <a:ext cx="566928" cy="566928"/>
          </a:xfrm>
          <a:prstGeom prst="ellipse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39696"/>
            <a:ext cx="566928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300" b="1">
                <a:solidFill>
                  <a:srgbClr val="2662E6"/>
                </a:solidFill>
                <a:latin typeface="Yu Gothic"/>
              </a:defRPr>
            </a:pPr>
            <a:r>
              <a:t>貼る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2103120"/>
            <a:ext cx="420624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700" b="1">
                <a:solidFill>
                  <a:srgbClr val="0A1E37"/>
                </a:solidFill>
                <a:latin typeface="Yu Gothic"/>
              </a:defRPr>
            </a:pPr>
            <a:r>
              <a:t>課題文を貼る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587752"/>
            <a:ext cx="42062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19" b="0">
                <a:solidFill>
                  <a:srgbClr val="65748B"/>
                </a:solidFill>
                <a:latin typeface="Yu Gothic"/>
              </a:defRPr>
            </a:pPr>
            <a:r>
              <a:t>WebClassや授業連絡文をそのまま貼り付け。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64208" y="2953512"/>
            <a:ext cx="2240280" cy="256032"/>
          </a:xfrm>
          <a:prstGeom prst="round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64208" y="2980944"/>
            <a:ext cx="2240280" cy="2103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780" b="1">
                <a:solidFill>
                  <a:srgbClr val="2662E6"/>
                </a:solidFill>
                <a:latin typeface="Yu Gothic"/>
              </a:defRPr>
            </a:pPr>
            <a:r>
              <a:t>入力の手間を減らす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840480"/>
            <a:ext cx="571500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187952"/>
            <a:ext cx="566928" cy="566928"/>
          </a:xfrm>
          <a:prstGeom prst="ellipse">
            <a:avLst/>
          </a:prstGeom>
          <a:solidFill>
            <a:srgbClr val="E6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197096"/>
            <a:ext cx="566928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300" b="1">
                <a:solidFill>
                  <a:srgbClr val="36B8EB"/>
                </a:solidFill>
                <a:latin typeface="Yu Gothic"/>
              </a:defRPr>
            </a:pPr>
            <a:r>
              <a:t>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4208" y="4160520"/>
            <a:ext cx="420624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700" b="1">
                <a:solidFill>
                  <a:srgbClr val="0A1E37"/>
                </a:solidFill>
                <a:latin typeface="Yu Gothic"/>
              </a:defRPr>
            </a:pPr>
            <a:r>
              <a:t>AIが候補を整理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4208" y="4645152"/>
            <a:ext cx="42062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19" b="0">
                <a:solidFill>
                  <a:srgbClr val="65748B"/>
                </a:solidFill>
                <a:latin typeface="Yu Gothic"/>
              </a:defRPr>
            </a:pPr>
            <a:r>
              <a:t>課題名・授業名・締切を候補として表示。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64208" y="5010912"/>
            <a:ext cx="2240280" cy="256032"/>
          </a:xfrm>
          <a:prstGeom prst="roundRect">
            <a:avLst/>
          </a:prstGeom>
          <a:solidFill>
            <a:srgbClr val="E6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64208" y="5038344"/>
            <a:ext cx="2240280" cy="2103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780" b="1">
                <a:solidFill>
                  <a:srgbClr val="36B8EB"/>
                </a:solidFill>
                <a:latin typeface="Yu Gothic"/>
              </a:defRPr>
            </a:pPr>
            <a:r>
              <a:t>保存前に確認できる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897880"/>
            <a:ext cx="571500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8680" y="6245352"/>
            <a:ext cx="566928" cy="566928"/>
          </a:xfrm>
          <a:prstGeom prst="ellipse">
            <a:avLst/>
          </a:prstGeom>
          <a:solidFill>
            <a:srgbClr val="EB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6254496"/>
            <a:ext cx="566928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300" b="1">
                <a:solidFill>
                  <a:srgbClr val="13B77C"/>
                </a:solidFill>
                <a:latin typeface="Yu Gothic"/>
              </a:defRPr>
            </a:pPr>
            <a:r>
              <a:t>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64208" y="6217920"/>
            <a:ext cx="420624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700" b="1">
                <a:solidFill>
                  <a:srgbClr val="0A1E37"/>
                </a:solidFill>
                <a:latin typeface="Yu Gothic"/>
              </a:defRPr>
            </a:pPr>
            <a:r>
              <a:t>今日やることに変換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6702552"/>
            <a:ext cx="42062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19" b="0">
                <a:solidFill>
                  <a:srgbClr val="65748B"/>
                </a:solidFill>
                <a:latin typeface="Yu Gothic"/>
              </a:defRPr>
            </a:pPr>
            <a:r>
              <a:t>近い締切や次にやることを確認しやすく。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64208" y="7068312"/>
            <a:ext cx="2240280" cy="256032"/>
          </a:xfrm>
          <a:prstGeom prst="roundRect">
            <a:avLst/>
          </a:prstGeom>
          <a:solidFill>
            <a:srgbClr val="EB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64208" y="7095744"/>
            <a:ext cx="2240280" cy="2103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780" b="1">
                <a:solidFill>
                  <a:srgbClr val="13B77C"/>
                </a:solidFill>
                <a:latin typeface="Yu Gothic"/>
              </a:defRPr>
            </a:pPr>
            <a:r>
              <a:t>締切を忘れにくい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8339327"/>
            <a:ext cx="571500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50392" y="8659368"/>
            <a:ext cx="384048" cy="384048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" y="8668512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500" b="1">
                <a:solidFill>
                  <a:srgbClr val="F59E0B"/>
                </a:solidFill>
                <a:latin typeface="Yu Gothic"/>
              </a:defRPr>
            </a:pPr>
            <a:r>
              <a:t>!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8558784"/>
            <a:ext cx="41148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Yu Gothic"/>
              </a:defRPr>
            </a:pPr>
            <a:r>
              <a:t>βテストで見てほしいところ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8887968"/>
            <a:ext cx="438912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40" b="0">
                <a:solidFill>
                  <a:srgbClr val="0A1E37"/>
                </a:solidFill>
                <a:latin typeface="Yu Gothic"/>
              </a:defRPr>
            </a:pPr>
            <a:r>
              <a:t>AI抽出の分かりやすさ・スマホ操作・Today画面の見やすさを中心に見てください。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10195560"/>
            <a:ext cx="1188720" cy="310896"/>
          </a:xfrm>
          <a:prstGeom prst="round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10222992"/>
            <a:ext cx="118872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750" b="1">
                <a:solidFill>
                  <a:srgbClr val="65748B"/>
                </a:solidFill>
                <a:latin typeface="Yu Gothic"/>
              </a:defRPr>
            </a:pPr>
            <a:r>
              <a:t>WebClass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139696" y="10195560"/>
            <a:ext cx="1188720" cy="310896"/>
          </a:xfrm>
          <a:prstGeom prst="round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39696" y="10222992"/>
            <a:ext cx="118872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750" b="1">
                <a:solidFill>
                  <a:srgbClr val="65748B"/>
                </a:solidFill>
                <a:latin typeface="Yu Gothic"/>
              </a:defRPr>
            </a:pPr>
            <a:r>
              <a:t>授業連絡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21024" y="10195560"/>
            <a:ext cx="1188720" cy="310896"/>
          </a:xfrm>
          <a:prstGeom prst="round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21024" y="10222992"/>
            <a:ext cx="118872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750" b="1">
                <a:solidFill>
                  <a:srgbClr val="65748B"/>
                </a:solidFill>
                <a:latin typeface="Yu Gothic"/>
              </a:defRPr>
            </a:pPr>
            <a:r>
              <a:t>提出案内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502920" y="11185855"/>
            <a:ext cx="1463040" cy="1463040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500000">
            <a:off x="5943600" y="-228600"/>
            <a:ext cx="1280160" cy="914400"/>
          </a:xfrm>
          <a:prstGeom prst="rect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55080" y="11505895"/>
            <a:ext cx="685800" cy="685800"/>
          </a:xfrm>
          <a:prstGeom prst="ellipse">
            <a:avLst/>
          </a:prstGeom>
          <a:solidFill>
            <a:srgbClr val="EC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58521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500" b="1">
                <a:solidFill>
                  <a:srgbClr val="0A1E37"/>
                </a:solidFill>
                <a:latin typeface="Yu Gothic"/>
              </a:defRPr>
            </a:pPr>
            <a:r>
              <a:t>テストはこの4ステップだけ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61288"/>
            <a:ext cx="57607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50" b="0">
                <a:solidFill>
                  <a:srgbClr val="65748B"/>
                </a:solidFill>
                <a:latin typeface="Yu Gothic"/>
              </a:defRPr>
            </a:pPr>
            <a:r>
              <a:t>最初に試してほしい流れだけに絞っています。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783080"/>
            <a:ext cx="55321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2084831"/>
            <a:ext cx="475488" cy="475488"/>
          </a:xfrm>
          <a:prstGeom prst="ellipse">
            <a:avLst/>
          </a:prstGeom>
          <a:solidFill>
            <a:srgbClr val="266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093975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029967"/>
            <a:ext cx="41148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600" b="1">
                <a:solidFill>
                  <a:srgbClr val="0A1E37"/>
                </a:solidFill>
                <a:latin typeface="Yu Gothic"/>
              </a:defRPr>
            </a:pPr>
            <a:r>
              <a:t>ログイン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423160"/>
            <a:ext cx="411480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50" b="0">
                <a:solidFill>
                  <a:srgbClr val="65748B"/>
                </a:solidFill>
                <a:latin typeface="Yu Gothic"/>
              </a:defRPr>
            </a:pPr>
            <a:r>
              <a:t>Googleでログイン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" y="3200400"/>
            <a:ext cx="55321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96112" y="3502152"/>
            <a:ext cx="475488" cy="475488"/>
          </a:xfrm>
          <a:prstGeom prst="ellipse">
            <a:avLst/>
          </a:prstGeom>
          <a:solidFill>
            <a:srgbClr val="36B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511296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447288"/>
            <a:ext cx="41148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600" b="1">
                <a:solidFill>
                  <a:srgbClr val="0A1E37"/>
                </a:solidFill>
                <a:latin typeface="Yu Gothic"/>
              </a:defRPr>
            </a:pPr>
            <a:r>
              <a:t>貼り付け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840480"/>
            <a:ext cx="411480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50" b="0">
                <a:solidFill>
                  <a:srgbClr val="65748B"/>
                </a:solidFill>
                <a:latin typeface="Yu Gothic"/>
              </a:defRPr>
            </a:pPr>
            <a:r>
              <a:t>/ai に課題文を貼る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617720"/>
            <a:ext cx="55321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96112" y="4919472"/>
            <a:ext cx="475488" cy="475488"/>
          </a:xfrm>
          <a:prstGeom prst="ellipse">
            <a:avLst/>
          </a:prstGeom>
          <a:solidFill>
            <a:srgbClr val="13B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928616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864608"/>
            <a:ext cx="41148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600" b="1">
                <a:solidFill>
                  <a:srgbClr val="0A1E37"/>
                </a:solidFill>
                <a:latin typeface="Yu Gothic"/>
              </a:defRPr>
            </a:pPr>
            <a:r>
              <a:t>確認・保存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5257800"/>
            <a:ext cx="411480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50" b="0">
                <a:solidFill>
                  <a:srgbClr val="65748B"/>
                </a:solidFill>
                <a:latin typeface="Yu Gothic"/>
              </a:defRPr>
            </a:pPr>
            <a:r>
              <a:t>締切と内容を見て保存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6035040"/>
            <a:ext cx="55321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96112" y="6336792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6345936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6281928"/>
            <a:ext cx="41148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600" b="1">
                <a:solidFill>
                  <a:srgbClr val="0A1E37"/>
                </a:solidFill>
                <a:latin typeface="Yu Gothic"/>
              </a:defRPr>
            </a:pPr>
            <a:r>
              <a:t>Today確認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6675120"/>
            <a:ext cx="411480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50" b="0">
                <a:solidFill>
                  <a:srgbClr val="65748B"/>
                </a:solidFill>
                <a:latin typeface="Yu Gothic"/>
              </a:defRPr>
            </a:pPr>
            <a:r>
              <a:t>今日やることをチェック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" y="7973568"/>
            <a:ext cx="55321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8247888"/>
            <a:ext cx="4572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00" b="1">
                <a:solidFill>
                  <a:srgbClr val="2662E6"/>
                </a:solidFill>
                <a:latin typeface="Yu Gothic"/>
              </a:defRPr>
            </a:pPr>
            <a:r>
              <a:t>チェックする画面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8686800"/>
            <a:ext cx="1783080" cy="310896"/>
          </a:xfrm>
          <a:prstGeom prst="round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8714232"/>
            <a:ext cx="178308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850" b="1">
                <a:solidFill>
                  <a:srgbClr val="2662E6"/>
                </a:solidFill>
                <a:latin typeface="Yu Gothic"/>
              </a:defRPr>
            </a:pPr>
            <a:r>
              <a:t>/ai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54680" y="8686800"/>
            <a:ext cx="1783080" cy="310896"/>
          </a:xfrm>
          <a:prstGeom prst="roundRect">
            <a:avLst/>
          </a:prstGeom>
          <a:solidFill>
            <a:srgbClr val="EB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54680" y="8714232"/>
            <a:ext cx="178308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850" b="1">
                <a:solidFill>
                  <a:srgbClr val="13B77C"/>
                </a:solidFill>
                <a:latin typeface="Yu Gothic"/>
              </a:defRPr>
            </a:pPr>
            <a:r>
              <a:t>/inbox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9144000"/>
            <a:ext cx="1783080" cy="310896"/>
          </a:xfrm>
          <a:prstGeom prst="round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9171432"/>
            <a:ext cx="178308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850" b="1">
                <a:solidFill>
                  <a:srgbClr val="2662E6"/>
                </a:solidFill>
                <a:latin typeface="Yu Gothic"/>
              </a:defRPr>
            </a:pPr>
            <a:r>
              <a:t>/today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154680" y="9144000"/>
            <a:ext cx="1783080" cy="310896"/>
          </a:xfrm>
          <a:prstGeom prst="roundRect">
            <a:avLst/>
          </a:prstGeom>
          <a:solidFill>
            <a:srgbClr val="EB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54680" y="9171432"/>
            <a:ext cx="178308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850" b="1">
                <a:solidFill>
                  <a:srgbClr val="13B77C"/>
                </a:solidFill>
                <a:latin typeface="Yu Gothic"/>
              </a:defRPr>
            </a:pPr>
            <a:r>
              <a:t>/dashboard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" y="10058400"/>
            <a:ext cx="5532120" cy="64008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10195560"/>
            <a:ext cx="5029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90" b="1">
                <a:solidFill>
                  <a:srgbClr val="2662E6"/>
                </a:solidFill>
                <a:latin typeface="Yu Gothic"/>
              </a:defRPr>
            </a:pPr>
            <a:r>
              <a:t>白画面・画面崩れ・押せないボタンがあれば、スクショ付きで教えてください。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502920" y="11185855"/>
            <a:ext cx="1463040" cy="1463040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500000">
            <a:off x="5943600" y="-228600"/>
            <a:ext cx="1280160" cy="914400"/>
          </a:xfrm>
          <a:prstGeom prst="rect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55080" y="11505895"/>
            <a:ext cx="685800" cy="685800"/>
          </a:xfrm>
          <a:prstGeom prst="ellipse">
            <a:avLst/>
          </a:prstGeom>
          <a:solidFill>
            <a:srgbClr val="EC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585216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300" b="1">
                <a:solidFill>
                  <a:srgbClr val="0A1E37"/>
                </a:solidFill>
                <a:latin typeface="Yu Gothic"/>
              </a:defRPr>
            </a:pPr>
            <a:r>
              <a:t>使う前に知っておいてほしいこと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417320"/>
            <a:ext cx="5669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19" b="0">
                <a:solidFill>
                  <a:srgbClr val="65748B"/>
                </a:solidFill>
                <a:latin typeface="Yu Gothic"/>
              </a:defRPr>
            </a:pPr>
            <a:r>
              <a:t>安心して試してもらうための大事な注意だけ。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057400"/>
            <a:ext cx="571500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2368296"/>
            <a:ext cx="566928" cy="566928"/>
          </a:xfrm>
          <a:prstGeom prst="ellipse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377439"/>
            <a:ext cx="566928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Yu Gothic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2331720"/>
            <a:ext cx="42519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450" b="1">
                <a:solidFill>
                  <a:srgbClr val="0A1E37"/>
                </a:solidFill>
                <a:latin typeface="Yu Gothic"/>
              </a:defRPr>
            </a:pPr>
            <a:r>
              <a:t>AIの結果は確認してから保存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788920"/>
            <a:ext cx="425196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40" b="0">
                <a:solidFill>
                  <a:srgbClr val="65748B"/>
                </a:solidFill>
                <a:latin typeface="Yu Gothic"/>
              </a:defRPr>
            </a:pPr>
            <a:r>
              <a:t>締切・授業名・課題内容がズレることがあります。保存前に確認してください。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64208" y="3200400"/>
            <a:ext cx="1965960" cy="256032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64208" y="3227832"/>
            <a:ext cx="1965960" cy="2103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760" b="1">
                <a:solidFill>
                  <a:srgbClr val="F59E0B"/>
                </a:solidFill>
                <a:latin typeface="Yu Gothic"/>
              </a:defRPr>
            </a:pPr>
            <a:r>
              <a:t>確認して保存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114800"/>
            <a:ext cx="571500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425696"/>
            <a:ext cx="566928" cy="566928"/>
          </a:xfrm>
          <a:prstGeom prst="ellipse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34840"/>
            <a:ext cx="566928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100" b="1">
                <a:solidFill>
                  <a:srgbClr val="2662E6"/>
                </a:solidFill>
                <a:latin typeface="Yu Gothic"/>
              </a:defRPr>
            </a:pPr>
            <a:r>
              <a:t>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4208" y="4389120"/>
            <a:ext cx="42519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450" b="1">
                <a:solidFill>
                  <a:srgbClr val="0A1E37"/>
                </a:solidFill>
                <a:latin typeface="Yu Gothic"/>
              </a:defRPr>
            </a:pPr>
            <a:r>
              <a:t>Google Calendar連携は任意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4208" y="4846320"/>
            <a:ext cx="425196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40" b="0">
                <a:solidFill>
                  <a:srgbClr val="65748B"/>
                </a:solidFill>
                <a:latin typeface="Yu Gothic"/>
              </a:defRPr>
            </a:pPr>
            <a:r>
              <a:t>連携しなくても基本機能は試せます。同期失敗時でも課題保存は成功します。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64208" y="5257800"/>
            <a:ext cx="1965960" cy="256032"/>
          </a:xfrm>
          <a:prstGeom prst="round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64208" y="5285232"/>
            <a:ext cx="1965960" cy="2103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760" b="1">
                <a:solidFill>
                  <a:srgbClr val="2662E6"/>
                </a:solidFill>
                <a:latin typeface="Yu Gothic"/>
              </a:defRPr>
            </a:pPr>
            <a:r>
              <a:t>連携なしでもOK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6172200"/>
            <a:ext cx="571500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8680" y="6483096"/>
            <a:ext cx="566928" cy="566928"/>
          </a:xfrm>
          <a:prstGeom prst="ellipse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6492240"/>
            <a:ext cx="566928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100" b="1">
                <a:solidFill>
                  <a:srgbClr val="EC4899"/>
                </a:solidFill>
                <a:latin typeface="Yu Gothic"/>
              </a:defRPr>
            </a:pPr>
            <a:r>
              <a:t>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64208" y="6446520"/>
            <a:ext cx="42519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450" b="1">
                <a:solidFill>
                  <a:srgbClr val="0A1E37"/>
                </a:solidFill>
                <a:latin typeface="Yu Gothic"/>
              </a:defRPr>
            </a:pPr>
            <a:r>
              <a:t>β版なので不具合があるかも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6903720"/>
            <a:ext cx="425196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40" b="0">
                <a:solidFill>
                  <a:srgbClr val="65748B"/>
                </a:solidFill>
                <a:latin typeface="Yu Gothic"/>
              </a:defRPr>
            </a:pPr>
            <a:r>
              <a:t>表示崩れや動作の不安定さが出る可能性があります。気づいたら気軽に報告してください。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64208" y="7315200"/>
            <a:ext cx="1965960" cy="256032"/>
          </a:xfrm>
          <a:prstGeom prst="round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64208" y="7342631"/>
            <a:ext cx="1965960" cy="2103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760" b="1">
                <a:solidFill>
                  <a:srgbClr val="EC4899"/>
                </a:solidFill>
                <a:latin typeface="Yu Gothic"/>
              </a:defRPr>
            </a:pPr>
            <a:r>
              <a:t>気軽に報告OK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8549640"/>
            <a:ext cx="5715000" cy="1097280"/>
          </a:xfrm>
          <a:prstGeom prst="roundRect">
            <a:avLst/>
          </a:prstGeom>
          <a:solidFill>
            <a:srgbClr val="0A1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8796528"/>
            <a:ext cx="51206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 b="1">
                <a:solidFill>
                  <a:srgbClr val="36B8EB"/>
                </a:solidFill>
                <a:latin typeface="Yu Gothic"/>
              </a:defRPr>
            </a:pPr>
            <a:r>
              <a:t>データについて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9098280"/>
            <a:ext cx="51206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80" b="0">
                <a:solidFill>
                  <a:srgbClr val="FFFFFF"/>
                </a:solidFill>
                <a:latin typeface="Yu Gothic"/>
              </a:defRPr>
            </a:pPr>
            <a:r>
              <a:t>あなたの課題情報は他のユーザーには見えません。削除希望があれば連絡してください。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502920" y="11185855"/>
            <a:ext cx="1463040" cy="1463040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500000">
            <a:off x="5943600" y="-228600"/>
            <a:ext cx="1280160" cy="914400"/>
          </a:xfrm>
          <a:prstGeom prst="rect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55080" y="11505895"/>
            <a:ext cx="685800" cy="685800"/>
          </a:xfrm>
          <a:prstGeom prst="ellipse">
            <a:avLst/>
          </a:prstGeom>
          <a:solidFill>
            <a:srgbClr val="EC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585216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400" b="1">
                <a:solidFill>
                  <a:srgbClr val="0A1E37"/>
                </a:solidFill>
                <a:latin typeface="Yu Gothic"/>
              </a:defRPr>
            </a:pPr>
            <a:r>
              <a:t>最後に、これだけ教えてほしい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25880"/>
            <a:ext cx="5669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19" b="0">
                <a:solidFill>
                  <a:srgbClr val="65748B"/>
                </a:solidFill>
                <a:latin typeface="Yu Gothic"/>
              </a:defRPr>
            </a:pPr>
            <a:r>
              <a:t>「使ってみた感覚」もかなり大事です。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74519"/>
            <a:ext cx="571500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76272"/>
            <a:ext cx="5029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700" b="1">
                <a:solidFill>
                  <a:srgbClr val="0A1E37"/>
                </a:solidFill>
                <a:latin typeface="Yu Gothic"/>
              </a:defRPr>
            </a:pPr>
            <a:r>
              <a:t>フィードバックの例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743200"/>
            <a:ext cx="1143000" cy="310896"/>
          </a:xfrm>
          <a:prstGeom prst="round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770632"/>
            <a:ext cx="114300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819" b="1">
                <a:solidFill>
                  <a:srgbClr val="2662E6"/>
                </a:solidFill>
                <a:latin typeface="Yu Gothic"/>
              </a:defRPr>
            </a:pPr>
            <a:r>
              <a:t>AI抽出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12848" y="2798064"/>
            <a:ext cx="3749039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40" b="0">
                <a:solidFill>
                  <a:srgbClr val="0A1E37"/>
                </a:solidFill>
                <a:latin typeface="Yu Gothic"/>
              </a:defRPr>
            </a:pPr>
            <a:r>
              <a:t>課題名や締切は合っていた？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401568"/>
            <a:ext cx="1143000" cy="310896"/>
          </a:xfrm>
          <a:prstGeom prst="roundRect">
            <a:avLst/>
          </a:prstGeom>
          <a:solidFill>
            <a:srgbClr val="EB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428999"/>
            <a:ext cx="114300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819" b="1">
                <a:solidFill>
                  <a:srgbClr val="13B77C"/>
                </a:solidFill>
                <a:latin typeface="Yu Gothic"/>
              </a:defRPr>
            </a:pPr>
            <a:r>
              <a:t>スマホ操作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12848" y="3456432"/>
            <a:ext cx="3749039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40" b="0">
                <a:solidFill>
                  <a:srgbClr val="0A1E37"/>
                </a:solidFill>
                <a:latin typeface="Yu Gothic"/>
              </a:defRPr>
            </a:pPr>
            <a:r>
              <a:t>ボタンは押しやすかった？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059935"/>
            <a:ext cx="1143000" cy="310896"/>
          </a:xfrm>
          <a:prstGeom prst="round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087368"/>
            <a:ext cx="114300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819" b="1">
                <a:solidFill>
                  <a:srgbClr val="2662E6"/>
                </a:solidFill>
                <a:latin typeface="Yu Gothic"/>
              </a:defRPr>
            </a:pPr>
            <a:r>
              <a:t>Today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12848" y="4114799"/>
            <a:ext cx="3749039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40" b="0">
                <a:solidFill>
                  <a:srgbClr val="0A1E37"/>
                </a:solidFill>
                <a:latin typeface="Yu Gothic"/>
              </a:defRPr>
            </a:pPr>
            <a:r>
              <a:t>今日やることは見やすかった？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718304"/>
            <a:ext cx="1143000" cy="310896"/>
          </a:xfrm>
          <a:prstGeom prst="roundRect">
            <a:avLst/>
          </a:prstGeom>
          <a:solidFill>
            <a:srgbClr val="EB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45736"/>
            <a:ext cx="114300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819" b="1">
                <a:solidFill>
                  <a:srgbClr val="13B77C"/>
                </a:solidFill>
                <a:latin typeface="Yu Gothic"/>
              </a:defRPr>
            </a:pPr>
            <a:r>
              <a:t>不安点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12848" y="4773168"/>
            <a:ext cx="3749039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40" b="0">
                <a:solidFill>
                  <a:srgbClr val="0A1E37"/>
                </a:solidFill>
                <a:latin typeface="Yu Gothic"/>
              </a:defRPr>
            </a:pPr>
            <a:r>
              <a:t>説明不足や怖いと感じた部分は？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6172200"/>
            <a:ext cx="5715000" cy="3977639"/>
          </a:xfrm>
          <a:prstGeom prst="roundRect">
            <a:avLst/>
          </a:prstGeom>
          <a:solidFill>
            <a:srgbClr val="0A1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6492240"/>
            <a:ext cx="5029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Yu Gothic"/>
              </a:defRPr>
            </a:pPr>
            <a:r>
              <a:t>送ってほしい内容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7178040"/>
            <a:ext cx="347472" cy="347472"/>
          </a:xfrm>
          <a:prstGeom prst="ellipse">
            <a:avLst/>
          </a:prstGeom>
          <a:solidFill>
            <a:srgbClr val="36B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7187183"/>
            <a:ext cx="347472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Yu Gothic"/>
              </a:defRPr>
            </a:pPr>
            <a: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7251192"/>
            <a:ext cx="41148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19" b="0">
                <a:solidFill>
                  <a:srgbClr val="FFFFFF"/>
                </a:solidFill>
                <a:latin typeface="Yu Gothic"/>
              </a:defRPr>
            </a:pPr>
            <a:r>
              <a:t>使った端末・ブラウザ</a:t>
            </a:r>
          </a:p>
        </p:txBody>
      </p:sp>
      <p:sp>
        <p:nvSpPr>
          <p:cNvPr id="26" name="Oval 25"/>
          <p:cNvSpPr/>
          <p:nvPr/>
        </p:nvSpPr>
        <p:spPr>
          <a:xfrm>
            <a:off x="914400" y="7744967"/>
            <a:ext cx="347472" cy="347472"/>
          </a:xfrm>
          <a:prstGeom prst="ellipse">
            <a:avLst/>
          </a:prstGeom>
          <a:solidFill>
            <a:srgbClr val="13B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7754111"/>
            <a:ext cx="347472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Yu Gothic"/>
              </a:defRPr>
            </a:pPr>
            <a: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7818119"/>
            <a:ext cx="41148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19" b="0">
                <a:solidFill>
                  <a:srgbClr val="FFFFFF"/>
                </a:solidFill>
                <a:latin typeface="Yu Gothic"/>
              </a:defRPr>
            </a:pPr>
            <a:r>
              <a:t>どの画面で起きたか</a:t>
            </a:r>
          </a:p>
        </p:txBody>
      </p:sp>
      <p:sp>
        <p:nvSpPr>
          <p:cNvPr id="29" name="Oval 28"/>
          <p:cNvSpPr/>
          <p:nvPr/>
        </p:nvSpPr>
        <p:spPr>
          <a:xfrm>
            <a:off x="914400" y="8311896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8321040"/>
            <a:ext cx="347472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Yu Gothic"/>
              </a:defRPr>
            </a:pPr>
            <a: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8385048"/>
            <a:ext cx="41148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19" b="0">
                <a:solidFill>
                  <a:srgbClr val="FFFFFF"/>
                </a:solidFill>
                <a:latin typeface="Yu Gothic"/>
              </a:defRPr>
            </a:pPr>
            <a:r>
              <a:t>何をしようとしたか</a:t>
            </a:r>
          </a:p>
        </p:txBody>
      </p:sp>
      <p:sp>
        <p:nvSpPr>
          <p:cNvPr id="32" name="Oval 31"/>
          <p:cNvSpPr/>
          <p:nvPr/>
        </p:nvSpPr>
        <p:spPr>
          <a:xfrm>
            <a:off x="914400" y="8878824"/>
            <a:ext cx="347472" cy="347472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8887967"/>
            <a:ext cx="347472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Yu Gothic"/>
              </a:defRPr>
            </a:pPr>
            <a: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8951976"/>
            <a:ext cx="41148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19" b="0">
                <a:solidFill>
                  <a:srgbClr val="FFFFFF"/>
                </a:solidFill>
                <a:latin typeface="Yu Gothic"/>
              </a:defRPr>
            </a:pPr>
            <a:r>
              <a:t>エラー文やスクショ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9464040"/>
            <a:ext cx="4709160" cy="475488"/>
          </a:xfrm>
          <a:prstGeom prst="roundRect">
            <a:avLst/>
          </a:prstGeom>
          <a:solidFill>
            <a:srgbClr val="36B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9610344"/>
            <a:ext cx="470916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900" b="1">
                <a:solidFill>
                  <a:srgbClr val="0A1E37"/>
                </a:solidFill>
                <a:latin typeface="Yu Gothic"/>
              </a:defRPr>
            </a:pPr>
            <a:r>
              <a:t>数日使って、率直な感想をください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11109960"/>
            <a:ext cx="5486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19" b="0">
                <a:solidFill>
                  <a:srgbClr val="65748B"/>
                </a:solidFill>
                <a:latin typeface="Yu Gothic"/>
              </a:defRPr>
            </a:pPr>
            <a:r>
              <a:t>Campus TaskFlow βテスト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